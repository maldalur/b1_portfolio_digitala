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🚀 Deep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Ikastaro Aurreratua - Portfolio Digitala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Mikel Aldalur Corta</a:t>
            </a:r>
          </a:p>
          <a:p>
            <a:r>
              <a:t>Instituto BIRT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Ikastaroaren Helburua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0"/>
              </a:spcAft>
              <a:defRPr sz="2000"/>
            </a:pPr>
            <a:r>
              <a:t>Maila aurreratuko ikasleei Deep Learning eta Computer Vision teknikak irakastea</a:t>
            </a:r>
          </a:p>
          <a:p>
            <a:pPr lvl="1">
              <a:spcAft>
                <a:spcPts val="1000"/>
              </a:spcAft>
              <a:defRPr sz="1800"/>
            </a:pPr>
            <a:r>
              <a:t>CNN ereduak zerotik eraikitzen ikasi</a:t>
            </a:r>
          </a:p>
          <a:p>
            <a:pPr lvl="1">
              <a:spcAft>
                <a:spcPts val="1000"/>
              </a:spcAft>
              <a:defRPr sz="1800"/>
            </a:pPr>
            <a:r>
              <a:t>Transfer Learning teknikak aplikatu</a:t>
            </a:r>
          </a:p>
          <a:p>
            <a:pPr lvl="1">
              <a:spcAft>
                <a:spcPts val="1000"/>
              </a:spcAft>
              <a:defRPr sz="1800"/>
            </a:pPr>
            <a:r>
              <a:t>Objektu detekzioa denbora errealean</a:t>
            </a:r>
          </a:p>
          <a:p>
            <a:pPr lvl="1">
              <a:spcAft>
                <a:spcPts val="1000"/>
              </a:spcAft>
              <a:defRPr sz="1800"/>
            </a:pPr>
            <a:r>
              <a:t>Aurpegi ezagutza sistemak garatu</a:t>
            </a:r>
          </a:p>
          <a:p>
            <a:pPr lvl="1">
              <a:spcAft>
                <a:spcPts val="1000"/>
              </a:spcAft>
              <a:defRPr sz="1800"/>
            </a:pPr>
            <a:r>
              <a:t>Proiektu errealetan aplikatzeko gaitasuna lortu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Ikastaroaren Egitura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500"/>
              </a:spcAft>
              <a:defRPr sz="1800"/>
            </a:pPr>
            <a:r>
              <a:t>01 - CNN Oinarriak</a:t>
            </a:r>
            <a:br/>
            <a:r>
              <a:t>     2 notebooks, 2-3h</a:t>
            </a:r>
          </a:p>
          <a:p>
            <a:pPr>
              <a:spcAft>
                <a:spcPts val="1500"/>
              </a:spcAft>
              <a:defRPr sz="1800"/>
            </a:pPr>
            <a:r>
              <a:t>02 - Transfer Learning</a:t>
            </a:r>
            <a:br/>
            <a:r>
              <a:t>     2 notebooks, 2-3h</a:t>
            </a:r>
          </a:p>
          <a:p>
            <a:pPr>
              <a:spcAft>
                <a:spcPts val="1500"/>
              </a:spcAft>
              <a:defRPr sz="1800"/>
            </a:pPr>
            <a:r>
              <a:t>03 - Objektu Detekzioa</a:t>
            </a:r>
            <a:br/>
            <a:r>
              <a:t>     2 notebooks, 2-3h</a:t>
            </a:r>
          </a:p>
          <a:p>
            <a:pPr>
              <a:spcAft>
                <a:spcPts val="1500"/>
              </a:spcAft>
              <a:defRPr sz="1800"/>
            </a:pPr>
            <a:r>
              <a:t>04 - Aurpegi Ezagutza</a:t>
            </a:r>
            <a:br/>
            <a:r>
              <a:t>     2 notebooks, 2-3h</a:t>
            </a:r>
          </a:p>
          <a:p>
            <a:pPr>
              <a:spcAft>
                <a:spcPts val="1500"/>
              </a:spcAft>
              <a:defRPr sz="1800"/>
            </a:pPr>
            <a:r>
              <a:t>05 - Proiektu Finala</a:t>
            </a:r>
            <a:br/>
            <a:r>
              <a:t>     1 notebook, 2-3h</a:t>
            </a:r>
          </a:p>
          <a:p>
            <a:br/>
            <a:pPr>
              <a:defRPr sz="2000" b="1">
                <a:solidFill>
                  <a:srgbClr val="4CAF50"/>
                </a:solidFill>
              </a:defRPr>
            </a:pPr>
            <a:r>
              <a:t>GUZTIRA: 9 notebooks, 10-15 ordu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📘 Atala 1: CNN Oinarriak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 b="1"/>
            </a:pPr>
            <a:r>
              <a:t>01_CNN_Sarrera.ipynb</a:t>
            </a:r>
          </a:p>
          <a:p>
            <a:pPr lvl="1">
              <a:defRPr sz="1600"/>
            </a:pPr>
            <a:r>
              <a:t>CNN kontzeptuaren sarrera</a:t>
            </a:r>
          </a:p>
          <a:p>
            <a:pPr lvl="1">
              <a:defRPr sz="1600"/>
            </a:pPr>
            <a:r>
              <a:t>MLP vs CNN konparaketa</a:t>
            </a:r>
          </a:p>
          <a:p>
            <a:pPr lvl="1">
              <a:defRPr sz="1600"/>
            </a:pPr>
            <a:r>
              <a:t>MNIST dataset-arekin praktika</a:t>
            </a:r>
          </a:p>
          <a:p>
            <a:pPr lvl="1">
              <a:defRPr sz="1600"/>
            </a:pPr>
            <a:r>
              <a:t>Feature maps bistaratzea</a:t>
            </a:r>
          </a:p>
          <a:p>
            <a:br/>
            <a:pPr>
              <a:spcAft>
                <a:spcPts val="1000"/>
              </a:spcAft>
              <a:defRPr sz="2200" b="1"/>
            </a:pPr>
            <a:r>
              <a:t>02_Lehen_CNN_Eredua.ipynb</a:t>
            </a:r>
          </a:p>
          <a:p>
            <a:pPr lvl="1">
              <a:defRPr sz="1600"/>
            </a:pPr>
            <a:r>
              <a:t>CNN eredua zerotik eraikitzen</a:t>
            </a:r>
          </a:p>
          <a:p>
            <a:pPr lvl="1">
              <a:defRPr sz="1600"/>
            </a:pPr>
            <a:r>
              <a:t>Callbacks eta optimizazioa</a:t>
            </a:r>
          </a:p>
          <a:p>
            <a:pPr lvl="1">
              <a:defRPr sz="1600"/>
            </a:pPr>
            <a:r>
              <a:t>Confusion matrix eta metrikak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📗 Atala 2: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 b="1"/>
            </a:pPr>
            <a:r>
              <a:t>01_Transfer_Learning_Sarrera.ipynb</a:t>
            </a:r>
          </a:p>
          <a:p>
            <a:pPr lvl="1">
              <a:defRPr sz="1600"/>
            </a:pPr>
            <a:r>
              <a:t>Transfer Learning kontzeptua</a:t>
            </a:r>
          </a:p>
          <a:p>
            <a:pPr lvl="1">
              <a:defRPr sz="1600"/>
            </a:pPr>
            <a:r>
              <a:t>VGG16, ResNet50, MobileNetV2</a:t>
            </a:r>
          </a:p>
          <a:p>
            <a:pPr lvl="1">
              <a:defRPr sz="1600"/>
            </a:pPr>
            <a:r>
              <a:t>Feature Extraction vs Fine-Tuning</a:t>
            </a:r>
          </a:p>
          <a:p>
            <a:br/>
            <a:pPr>
              <a:spcAft>
                <a:spcPts val="1000"/>
              </a:spcAft>
              <a:defRPr sz="2200" b="1"/>
            </a:pPr>
            <a:r>
              <a:t>02_Cats_vs_Dogs_Klasifikazioa.ipynb</a:t>
            </a:r>
          </a:p>
          <a:p>
            <a:pPr lvl="1">
              <a:defRPr sz="1600"/>
            </a:pPr>
            <a:r>
              <a:t>Katu vs Txakur klasifikazioa</a:t>
            </a:r>
          </a:p>
          <a:p>
            <a:pPr lvl="1">
              <a:defRPr sz="1600"/>
            </a:pPr>
            <a:r>
              <a:t>Data Augmentation aplikatu</a:t>
            </a:r>
          </a:p>
          <a:p>
            <a:pPr lvl="1">
              <a:defRPr sz="1600"/>
            </a:pPr>
            <a:r>
              <a:t>Custom dataset-arekin lan egin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📙 Atala 3: Objektu Detekzioa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 b="1"/>
            </a:pPr>
            <a:r>
              <a:t>01_Objektu_Detekzioa_Sarrera.ipynb</a:t>
            </a:r>
          </a:p>
          <a:p>
            <a:pPr lvl="1">
              <a:defRPr sz="1600"/>
            </a:pPr>
            <a:r>
              <a:t>Objektu detekzioaren oinarriak</a:t>
            </a:r>
          </a:p>
          <a:p>
            <a:pPr lvl="1">
              <a:defRPr sz="1600"/>
            </a:pPr>
            <a:r>
              <a:t>Bounding boxes, IoU, NMS</a:t>
            </a:r>
          </a:p>
          <a:p>
            <a:pPr lvl="1">
              <a:defRPr sz="1600"/>
            </a:pPr>
            <a:r>
              <a:t>YOLO, R-CNN, SSD algoritmoak</a:t>
            </a:r>
          </a:p>
          <a:p>
            <a:br/>
            <a:pPr>
              <a:spcAft>
                <a:spcPts val="1000"/>
              </a:spcAft>
              <a:defRPr sz="2200" b="1"/>
            </a:pPr>
            <a:r>
              <a:t>02_YOLO_Praktika.ipynb</a:t>
            </a:r>
          </a:p>
          <a:p>
            <a:pPr lvl="1">
              <a:defRPr sz="1600"/>
            </a:pPr>
            <a:r>
              <a:t>YOLOv8 erabilera praktikoa</a:t>
            </a:r>
          </a:p>
          <a:p>
            <a:pPr lvl="1">
              <a:defRPr sz="1600"/>
            </a:pPr>
            <a:r>
              <a:t>Irudietan eta bideoetan detektatu</a:t>
            </a:r>
          </a:p>
          <a:p>
            <a:pPr lvl="1">
              <a:defRPr sz="1600"/>
            </a:pPr>
            <a:r>
              <a:t>Real-time detekzioa webcam-ekin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📕 Atala 4: Aurpegi Ezagutza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200" b="1"/>
            </a:pPr>
            <a:r>
              <a:t>01_Aurpegi_Ezagutza_Sarrera.ipynb</a:t>
            </a:r>
          </a:p>
          <a:p>
            <a:pPr lvl="1">
              <a:defRPr sz="1600"/>
            </a:pPr>
            <a:r>
              <a:t>Face Detection vs Recognition</a:t>
            </a:r>
          </a:p>
          <a:p>
            <a:pPr lvl="1">
              <a:defRPr sz="1600"/>
            </a:pPr>
            <a:r>
              <a:t>Face Embeddings (128D)</a:t>
            </a:r>
          </a:p>
          <a:p>
            <a:pPr lvl="1">
              <a:defRPr sz="1600"/>
            </a:pPr>
            <a:r>
              <a:t>Verification vs Identification</a:t>
            </a:r>
          </a:p>
          <a:p>
            <a:br/>
            <a:pPr>
              <a:spcAft>
                <a:spcPts val="1000"/>
              </a:spcAft>
              <a:defRPr sz="2200" b="1"/>
            </a:pPr>
            <a:r>
              <a:t>02_Face_Recognition_Praktika.ipynb</a:t>
            </a:r>
          </a:p>
          <a:p>
            <a:pPr lvl="1">
              <a:defRPr sz="1600"/>
            </a:pPr>
            <a:r>
              <a:t>face_recognition liburutegia</a:t>
            </a:r>
          </a:p>
          <a:p>
            <a:pPr lvl="1">
              <a:defRPr sz="1600"/>
            </a:pPr>
            <a:r>
              <a:t>Face landmarks (68 puntu)</a:t>
            </a:r>
          </a:p>
          <a:p>
            <a:pPr lvl="1">
              <a:defRPr sz="1600"/>
            </a:pPr>
            <a:r>
              <a:t>Real-time recognition webcam-ekin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📓 Atala 5: Proiektu Finala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500"/>
              </a:spcAft>
              <a:defRPr sz="2400" b="1"/>
            </a:pPr>
            <a:r>
              <a:t>01_Proiektu_Finala_CIFAR10.ipynb</a:t>
            </a:r>
          </a:p>
          <a:p>
            <a:pPr lvl="1">
              <a:spcAft>
                <a:spcPts val="800"/>
              </a:spcAft>
              <a:defRPr sz="1800"/>
            </a:pPr>
            <a:r>
              <a:t>CIFAR-10 dataset osoa (60,000 irudi)</a:t>
            </a:r>
          </a:p>
          <a:p>
            <a:pPr lvl="1">
              <a:spcAft>
                <a:spcPts val="800"/>
              </a:spcAft>
              <a:defRPr sz="1800"/>
            </a:pPr>
            <a:r>
              <a:t>Custom CNN eredua diseinatu</a:t>
            </a:r>
          </a:p>
          <a:p>
            <a:pPr lvl="1">
              <a:spcAft>
                <a:spcPts val="800"/>
              </a:spcAft>
              <a:defRPr sz="1800"/>
            </a:pPr>
            <a:r>
              <a:t>Data Augmentation estrategia</a:t>
            </a:r>
          </a:p>
          <a:p>
            <a:pPr lvl="1">
              <a:spcAft>
                <a:spcPts val="800"/>
              </a:spcAft>
              <a:defRPr sz="1800"/>
            </a:pPr>
            <a:r>
              <a:t>Ebaluazio integrala</a:t>
            </a:r>
          </a:p>
          <a:p>
            <a:pPr lvl="1">
              <a:spcAft>
                <a:spcPts val="800"/>
              </a:spcAft>
              <a:defRPr sz="1800"/>
            </a:pPr>
            <a:r>
              <a:t>Eredua gorde eta exportatu</a:t>
            </a:r>
          </a:p>
          <a:p>
            <a:pPr lvl="1">
              <a:spcAft>
                <a:spcPts val="800"/>
              </a:spcAft>
              <a:defRPr sz="1800"/>
            </a:pPr>
            <a:r>
              <a:t>Ondorioak eta hurrengo pausoak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🛠️ Teknologiak eta Tresnak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t>Software</a:t>
            </a:r>
          </a:p>
          <a:p>
            <a:pPr lvl="1">
              <a:defRPr sz="1600"/>
            </a:pPr>
            <a:r>
              <a:t>Python 3.8+</a:t>
            </a:r>
          </a:p>
          <a:p>
            <a:pPr lvl="1">
              <a:defRPr sz="1600"/>
            </a:pPr>
            <a:r>
              <a:t>Jupyter Notebook</a:t>
            </a:r>
          </a:p>
          <a:p>
            <a:pPr lvl="1">
              <a:defRPr sz="1600"/>
            </a:pPr>
            <a:r>
              <a:t>Google Colab (GPU)</a:t>
            </a:r>
          </a:p>
          <a:p>
            <a:br/>
            <a:pPr>
              <a:defRPr sz="2200" b="1"/>
            </a:pPr>
            <a:r>
              <a:t>Liburutegiak</a:t>
            </a:r>
          </a:p>
          <a:p>
            <a:pPr lvl="1">
              <a:defRPr sz="1600"/>
            </a:pPr>
            <a:r>
              <a:t>TensorFlow / Keras</a:t>
            </a:r>
          </a:p>
          <a:p>
            <a:pPr lvl="1">
              <a:defRPr sz="1600"/>
            </a:pPr>
            <a:r>
              <a:t>OpenCV</a:t>
            </a:r>
          </a:p>
          <a:p>
            <a:pPr lvl="1">
              <a:defRPr sz="1600"/>
            </a:pPr>
            <a:r>
              <a:t>NumPy, Matplotlib, Seaborn</a:t>
            </a:r>
          </a:p>
          <a:p>
            <a:pPr lvl="1">
              <a:defRPr sz="1600"/>
            </a:pPr>
            <a:r>
              <a:t>scikit-learn</a:t>
            </a:r>
          </a:p>
          <a:p>
            <a:pPr lvl="1">
              <a:defRPr sz="1600"/>
            </a:pPr>
            <a:r>
              <a:t>Ultralytics (YOLO)</a:t>
            </a:r>
          </a:p>
          <a:p>
            <a:pPr lvl="1">
              <a:defRPr sz="1600"/>
            </a:pPr>
            <a:r>
              <a:t>face_recognition (dlib)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Zer Lortu Dezakezu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✅ CNN ereduak zerotik eraikitzen</a:t>
            </a:r>
          </a:p>
          <a:p>
            <a:pPr>
              <a:spcAft>
                <a:spcPts val="1200"/>
              </a:spcAft>
              <a:defRPr sz="1800"/>
            </a:pPr>
            <a:r>
              <a:t>✅ Transfer Learning aplikatzen</a:t>
            </a:r>
          </a:p>
          <a:p>
            <a:pPr>
              <a:spcAft>
                <a:spcPts val="1200"/>
              </a:spcAft>
              <a:defRPr sz="1800"/>
            </a:pPr>
            <a:r>
              <a:t>✅ Objektuak denbora errealean detektatzen</a:t>
            </a:r>
          </a:p>
          <a:p>
            <a:pPr>
              <a:spcAft>
                <a:spcPts val="1200"/>
              </a:spcAft>
              <a:defRPr sz="1800"/>
            </a:pPr>
            <a:r>
              <a:t>✅ Aurpegi-ezagutza sistemak garatzen</a:t>
            </a:r>
          </a:p>
          <a:p>
            <a:pPr>
              <a:spcAft>
                <a:spcPts val="1200"/>
              </a:spcAft>
              <a:defRPr sz="1800"/>
            </a:pPr>
            <a:r>
              <a:t>✅ Computer Vision proiektu konplexuak sortzen</a:t>
            </a:r>
          </a:p>
          <a:p>
            <a:pPr>
              <a:spcAft>
                <a:spcPts val="1200"/>
              </a:spcAft>
              <a:defRPr sz="1800"/>
            </a:pPr>
            <a:r>
              <a:t>✅ Ereduak produkziora eramaten</a:t>
            </a:r>
          </a:p>
          <a:p>
            <a:pPr>
              <a:spcAft>
                <a:spcPts val="1200"/>
              </a:spcAft>
              <a:defRPr sz="1800"/>
            </a:pPr>
            <a:r>
              <a:t>✅ Portfolio digital profesionala izaten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Hurrengo Pausoak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1. Dataset Propioa</a:t>
            </a:r>
            <a:br/>
            <a:r>
              <a:t>     Zure datu propioekin entrenatu</a:t>
            </a:r>
          </a:p>
          <a:p>
            <a:pPr>
              <a:spcAft>
                <a:spcPts val="1200"/>
              </a:spcAft>
              <a:defRPr sz="1800"/>
            </a:pPr>
            <a:r>
              <a:t>2. API Sortu</a:t>
            </a:r>
            <a:br/>
            <a:r>
              <a:t>     Flask/FastAPI REST API</a:t>
            </a:r>
          </a:p>
          <a:p>
            <a:pPr>
              <a:spcAft>
                <a:spcPts val="1200"/>
              </a:spcAft>
              <a:defRPr sz="1800"/>
            </a:pPr>
            <a:r>
              <a:t>3. Optimizatu</a:t>
            </a:r>
            <a:br/>
            <a:r>
              <a:t>     TensorFlow Lite, ONNX</a:t>
            </a:r>
          </a:p>
          <a:p>
            <a:pPr>
              <a:spcAft>
                <a:spcPts val="1200"/>
              </a:spcAft>
              <a:defRPr sz="1800"/>
            </a:pPr>
            <a:r>
              <a:t>4. Deploy</a:t>
            </a:r>
            <a:br/>
            <a:r>
              <a:t>     AWS, Google Cloud, Azure</a:t>
            </a:r>
          </a:p>
          <a:p>
            <a:pPr>
              <a:spcAft>
                <a:spcPts val="1200"/>
              </a:spcAft>
              <a:defRPr sz="1800"/>
            </a:pPr>
            <a:r>
              <a:t>5. Mobil App</a:t>
            </a:r>
            <a:br/>
            <a:r>
              <a:t>     TensorFlow Lite mugikorrean</a:t>
            </a:r>
          </a:p>
          <a:p>
            <a:pPr>
              <a:spcAft>
                <a:spcPts val="1200"/>
              </a:spcAft>
              <a:defRPr sz="1800"/>
            </a:pPr>
            <a:r>
              <a:t>6. Portfolio</a:t>
            </a:r>
            <a:br/>
            <a:r>
              <a:t>     GitHub-en argitaratu proiektuak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AF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Eskerrik asko! 🎉</a:t>
            </a:r>
          </a:p>
          <a:p/>
          <a:p>
            <a:r>
              <a:t>Galderak?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Mikel Aldalur Corta</a:t>
            </a:r>
          </a:p>
          <a:p>
            <a:r>
              <a:t>mikel.aldalur@birt.eus</a:t>
            </a:r>
          </a:p>
          <a:p>
            <a:r>
              <a:t>GitHub: github.com/maldalur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